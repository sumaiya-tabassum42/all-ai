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31520" y="1325880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457200" y="6400800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ALL AI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1247120" y="6400800"/>
            <a:ext cx="365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1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41148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3A8A"/>
                </a:solidFill>
              </a:rPr>
              <a:t>A Journey Through Time: Key Milestones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731520" y="1261872"/>
            <a:ext cx="128016" cy="128016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97280" y="1170432"/>
            <a:ext cx="1097280" cy="320040"/>
          </a:xfrm>
          <a:prstGeom prst="roundRect">
            <a:avLst/>
          </a:prstGeom>
          <a:solidFill>
            <a:srgbClr val="DBEAFE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97280" y="1207008"/>
            <a:ext cx="1097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3A8A"/>
                </a:solidFill>
              </a:rPr>
              <a:t>1950s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2468880" y="1170432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334155"/>
                </a:solidFill>
              </a:rPr>
              <a:t>Concept of time-sharing emerges, allowing multiple users to access a single mainframe.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731520" y="2084832"/>
            <a:ext cx="128016" cy="128016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097280" y="1993392"/>
            <a:ext cx="1097280" cy="320040"/>
          </a:xfrm>
          <a:prstGeom prst="roundRect">
            <a:avLst/>
          </a:prstGeom>
          <a:solidFill>
            <a:srgbClr val="DBEAFE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97280" y="2029968"/>
            <a:ext cx="1097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3A8A"/>
                </a:solidFill>
              </a:rPr>
              <a:t>1960s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2468880" y="1993392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334155"/>
                </a:solidFill>
              </a:rPr>
              <a:t>J.C.R. Licklider envisions an 'Intergalactic Computer Network' – a precursor to the internet and cloud.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731520" y="2907792"/>
            <a:ext cx="128016" cy="128016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097280" y="2816352"/>
            <a:ext cx="1097280" cy="320040"/>
          </a:xfrm>
          <a:prstGeom prst="roundRect">
            <a:avLst/>
          </a:prstGeom>
          <a:solidFill>
            <a:srgbClr val="DBEAFE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097280" y="2852928"/>
            <a:ext cx="1097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3A8A"/>
                </a:solidFill>
              </a:rPr>
              <a:t>1990s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2468880" y="2816352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334155"/>
                </a:solidFill>
              </a:rPr>
              <a:t>The World Wide Web gains traction, paving the way for web-based services.</a:t>
            </a:r>
            <a:endParaRPr lang="en-US" sz="1700" dirty="0"/>
          </a:p>
        </p:txBody>
      </p:sp>
      <p:sp>
        <p:nvSpPr>
          <p:cNvPr id="16" name="Shape 14"/>
          <p:cNvSpPr/>
          <p:nvPr/>
        </p:nvSpPr>
        <p:spPr>
          <a:xfrm>
            <a:off x="731520" y="3730752"/>
            <a:ext cx="128016" cy="128016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097280" y="3639312"/>
            <a:ext cx="1097280" cy="320040"/>
          </a:xfrm>
          <a:prstGeom prst="roundRect">
            <a:avLst/>
          </a:prstGeom>
          <a:solidFill>
            <a:srgbClr val="DBEAFE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097280" y="3675888"/>
            <a:ext cx="1097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3A8A"/>
                </a:solidFill>
              </a:rPr>
              <a:t>1999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2468880" y="3639312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334155"/>
                </a:solidFill>
              </a:rPr>
              <a:t>Salesforce launches, pioneering the Software as a Service (SaaS) model.</a:t>
            </a:r>
            <a:endParaRPr lang="en-US" sz="1700" dirty="0"/>
          </a:p>
        </p:txBody>
      </p:sp>
      <p:sp>
        <p:nvSpPr>
          <p:cNvPr id="20" name="Shape 18"/>
          <p:cNvSpPr/>
          <p:nvPr/>
        </p:nvSpPr>
        <p:spPr>
          <a:xfrm>
            <a:off x="731520" y="4553712"/>
            <a:ext cx="128016" cy="128016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097280" y="4462272"/>
            <a:ext cx="1097280" cy="320040"/>
          </a:xfrm>
          <a:prstGeom prst="roundRect">
            <a:avLst/>
          </a:prstGeom>
          <a:solidFill>
            <a:srgbClr val="DBEAFE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097280" y="4498848"/>
            <a:ext cx="1097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3A8A"/>
                </a:solidFill>
              </a:rPr>
              <a:t>2002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2468880" y="4462272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334155"/>
                </a:solidFill>
              </a:rPr>
              <a:t>Amazon Web Services (AWS) launches, offering commercial web services.</a:t>
            </a:r>
            <a:endParaRPr lang="en-US" sz="1700" dirty="0"/>
          </a:p>
        </p:txBody>
      </p:sp>
      <p:sp>
        <p:nvSpPr>
          <p:cNvPr id="24" name="Shape 22"/>
          <p:cNvSpPr/>
          <p:nvPr/>
        </p:nvSpPr>
        <p:spPr>
          <a:xfrm>
            <a:off x="731520" y="5376672"/>
            <a:ext cx="128016" cy="128016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097280" y="5285232"/>
            <a:ext cx="1097280" cy="320040"/>
          </a:xfrm>
          <a:prstGeom prst="roundRect">
            <a:avLst/>
          </a:prstGeom>
          <a:solidFill>
            <a:srgbClr val="DBEAFE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1097280" y="5321808"/>
            <a:ext cx="1097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3A8A"/>
                </a:solidFill>
              </a:rPr>
              <a:t>2006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2468880" y="5285232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334155"/>
                </a:solidFill>
              </a:rPr>
              <a:t>AWS introduces Elastic Compute Cloud (EC2) and Simple Storage Service (S3), marking the rise of IaaS.</a:t>
            </a:r>
            <a:endParaRPr lang="en-US" sz="1700" dirty="0"/>
          </a:p>
        </p:txBody>
      </p:sp>
      <p:sp>
        <p:nvSpPr>
          <p:cNvPr id="28" name="Shape 26"/>
          <p:cNvSpPr/>
          <p:nvPr/>
        </p:nvSpPr>
        <p:spPr>
          <a:xfrm>
            <a:off x="731520" y="6199632"/>
            <a:ext cx="128016" cy="128016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1097280" y="6108192"/>
            <a:ext cx="1097280" cy="320040"/>
          </a:xfrm>
          <a:prstGeom prst="roundRect">
            <a:avLst/>
          </a:prstGeom>
          <a:solidFill>
            <a:srgbClr val="DBEAFE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1097280" y="6144768"/>
            <a:ext cx="1097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3A8A"/>
                </a:solidFill>
              </a:rPr>
              <a:t>2008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2468880" y="6108192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334155"/>
                </a:solidFill>
              </a:rPr>
              <a:t>Google App Engine launches, popularizing Platform as a Service (PaaS).</a:t>
            </a:r>
            <a:endParaRPr lang="en-US" sz="1700" dirty="0"/>
          </a:p>
        </p:txBody>
      </p:sp>
      <p:sp>
        <p:nvSpPr>
          <p:cNvPr id="32" name="Shape 30"/>
          <p:cNvSpPr/>
          <p:nvPr/>
        </p:nvSpPr>
        <p:spPr>
          <a:xfrm>
            <a:off x="731520" y="7022592"/>
            <a:ext cx="128016" cy="128016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1097280" y="6931152"/>
            <a:ext cx="1097280" cy="320040"/>
          </a:xfrm>
          <a:prstGeom prst="roundRect">
            <a:avLst/>
          </a:prstGeom>
          <a:solidFill>
            <a:srgbClr val="DBEAFE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1097280" y="6967728"/>
            <a:ext cx="1097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3A8A"/>
                </a:solidFill>
              </a:rPr>
              <a:t>2010s-Present</a:t>
            </a:r>
            <a:endParaRPr lang="en-US" sz="1600" dirty="0"/>
          </a:p>
        </p:txBody>
      </p:sp>
      <p:sp>
        <p:nvSpPr>
          <p:cNvPr id="35" name="Text 33"/>
          <p:cNvSpPr/>
          <p:nvPr/>
        </p:nvSpPr>
        <p:spPr>
          <a:xfrm>
            <a:off x="2468880" y="6931152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334155"/>
                </a:solidFill>
              </a:rPr>
              <a:t>Widespread adoption of public, private, and hybrid cloud models; emergence of serverless computing and AI integration.</a:t>
            </a:r>
            <a:endParaRPr lang="en-US" sz="1700" dirty="0"/>
          </a:p>
        </p:txBody>
      </p:sp>
      <p:sp>
        <p:nvSpPr>
          <p:cNvPr id="36" name="Text 34"/>
          <p:cNvSpPr/>
          <p:nvPr/>
        </p:nvSpPr>
        <p:spPr>
          <a:xfrm>
            <a:off x="457200" y="6400800"/>
            <a:ext cx="1828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ALL AI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11247120" y="6400800"/>
            <a:ext cx="3657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41148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3A8A"/>
                </a:solidFill>
              </a:rPr>
              <a:t>On-Premise vs. Cloud: A Paradigm Shift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640080" y="1097280"/>
            <a:ext cx="4937760" cy="4754880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943600" y="1097280"/>
            <a:ext cx="4937760" cy="4754880"/>
          </a:xfrm>
          <a:prstGeom prst="roundRect">
            <a:avLst/>
          </a:prstGeom>
          <a:solidFill>
            <a:srgbClr val="FEF3C7"/>
          </a:solidFill>
          <a:ln w="12700">
            <a:solidFill>
              <a:srgbClr val="FCD34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14400" y="1325880"/>
            <a:ext cx="4297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E3A8A"/>
                </a:solidFill>
              </a:rPr>
              <a:t>On-Premise Infrastructure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6217920" y="1325880"/>
            <a:ext cx="4297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92400E"/>
                </a:solidFill>
              </a:rPr>
              <a:t>Cloud Computing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914400" y="1901952"/>
            <a:ext cx="109728" cy="109728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143000" y="1828800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34155"/>
                </a:solidFill>
              </a:rPr>
              <a:t>High upfront capital investment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914400" y="2496312"/>
            <a:ext cx="109728" cy="109728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143000" y="2423160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34155"/>
                </a:solidFill>
              </a:rPr>
              <a:t>Manual hardware maintenance and upgrades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914400" y="3090672"/>
            <a:ext cx="109728" cy="109728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143000" y="3017520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34155"/>
                </a:solidFill>
              </a:rPr>
              <a:t>Limited scalability and flexibility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914400" y="3685032"/>
            <a:ext cx="109728" cy="109728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143000" y="3611880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34155"/>
                </a:solidFill>
              </a:rPr>
              <a:t>Higher operational costs for underutilized resources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6217920" y="1901952"/>
            <a:ext cx="109728" cy="109728"/>
          </a:xfrm>
          <a:prstGeom prst="ellipse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446520" y="1828800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34155"/>
                </a:solidFill>
              </a:rPr>
              <a:t>Pay-as-you-go service model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6217920" y="2496312"/>
            <a:ext cx="109728" cy="109728"/>
          </a:xfrm>
          <a:prstGeom prst="ellipse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446520" y="2423160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34155"/>
                </a:solidFill>
              </a:rPr>
              <a:t>Managed infrastructure by providers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6217920" y="3090672"/>
            <a:ext cx="109728" cy="109728"/>
          </a:xfrm>
          <a:prstGeom prst="ellipse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446520" y="3017520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34155"/>
                </a:solidFill>
              </a:rPr>
              <a:t>Scalability and elasticity on demand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6217920" y="3685032"/>
            <a:ext cx="109728" cy="109728"/>
          </a:xfrm>
          <a:prstGeom prst="ellipse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446520" y="3611880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34155"/>
                </a:solidFill>
              </a:rPr>
              <a:t>Reduced total cost of ownership (TCO)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457200" y="6400800"/>
            <a:ext cx="1828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ALL AI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11247120" y="6400800"/>
            <a:ext cx="3657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00000"/>
                </a:solidFill>
              </a:rPr>
              <a:t>The Cloud's Explosive Growth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640080" y="1828800"/>
            <a:ext cx="2194560" cy="2194560"/>
          </a:xfrm>
          <a:prstGeom prst="roundRect">
            <a:avLst/>
          </a:prstGeom>
          <a:solidFill>
            <a:srgbClr val="DBEAFE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2194560"/>
            <a:ext cx="2194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000000"/>
                </a:solidFill>
              </a:rPr>
              <a:t>$624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640080" y="3017520"/>
            <a:ext cx="21945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000000"/>
                </a:solidFill>
              </a:rPr>
              <a:t>Billion: Estimated Cloud Computing Market Size in 2024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3200400" y="1828800"/>
            <a:ext cx="2194560" cy="2194560"/>
          </a:xfrm>
          <a:prstGeom prst="roundRect">
            <a:avLst/>
          </a:prstGeom>
          <a:solidFill>
            <a:srgbClr val="DBEAFE"/>
          </a:solidFill>
          <a:ln/>
        </p:spPr>
      </p:sp>
      <p:sp>
        <p:nvSpPr>
          <p:cNvPr id="7" name="Text 5"/>
          <p:cNvSpPr/>
          <p:nvPr/>
        </p:nvSpPr>
        <p:spPr>
          <a:xfrm>
            <a:off x="3200400" y="2194560"/>
            <a:ext cx="2194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000000"/>
                </a:solidFill>
              </a:rPr>
              <a:t>94%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3200400" y="3017520"/>
            <a:ext cx="21945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000000"/>
                </a:solidFill>
              </a:rPr>
              <a:t>Of enterprises have already adopted some form of cloud service.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760720" y="1828800"/>
            <a:ext cx="2194560" cy="2194560"/>
          </a:xfrm>
          <a:prstGeom prst="roundRect">
            <a:avLst/>
          </a:prstGeom>
          <a:solidFill>
            <a:srgbClr val="DBEAFE"/>
          </a:solidFill>
          <a:ln/>
        </p:spPr>
      </p:sp>
      <p:sp>
        <p:nvSpPr>
          <p:cNvPr id="10" name="Text 8"/>
          <p:cNvSpPr/>
          <p:nvPr/>
        </p:nvSpPr>
        <p:spPr>
          <a:xfrm>
            <a:off x="5760720" y="2194560"/>
            <a:ext cx="2194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000000"/>
                </a:solidFill>
              </a:rPr>
              <a:t>70%</a:t>
            </a:r>
            <a:endParaRPr lang="en-US" sz="3000" dirty="0"/>
          </a:p>
        </p:txBody>
      </p:sp>
      <p:sp>
        <p:nvSpPr>
          <p:cNvPr id="11" name="Text 9"/>
          <p:cNvSpPr/>
          <p:nvPr/>
        </p:nvSpPr>
        <p:spPr>
          <a:xfrm>
            <a:off x="5760720" y="3017520"/>
            <a:ext cx="21945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000000"/>
                </a:solidFill>
              </a:rPr>
              <a:t>Of organizations are adopting a multi-cloud strategy.</a:t>
            </a:r>
            <a:endParaRPr lang="en-US" sz="15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3A8A"/>
                </a:solidFill>
              </a:rPr>
              <a:t>The Pillars of Cloud Computing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731520" y="1097280"/>
            <a:ext cx="4023360" cy="457200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34155"/>
                </a:solidFill>
              </a:rPr>
              <a:t>• Infrastructure as a Service (IaaS): Virtualized computing resources.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334155"/>
                </a:solidFill>
              </a:rPr>
              <a:t>• Platform as a Service (PaaS): Environment for developing and deploying applications.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334155"/>
                </a:solidFill>
              </a:rPr>
              <a:t>• Software as a Service (SaaS): Ready-to-use applications delivered over the internet.</a:t>
            </a:r>
            <a:endParaRPr lang="en-US" sz="1800" dirty="0"/>
          </a:p>
        </p:txBody>
      </p:sp>
      <p:pic>
        <p:nvPicPr>
          <p:cNvPr id="4" name="Image 0" descr="C:\Users\sumai\Desktop\ALL AI in one\ALL AI new\public\presentation-cache\cloud_computing_service_models_diagram_isometric_high_qualit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212080" y="1097280"/>
            <a:ext cx="3108960" cy="438912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212080" y="5577840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Conceptual diagram of cloud service models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64008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2563EB"/>
                </a:solidFill>
              </a:rPr>
              <a:t>“</a:t>
            </a:r>
            <a:endParaRPr lang="en-US" sz="4200" dirty="0"/>
          </a:p>
        </p:txBody>
      </p:sp>
      <p:sp>
        <p:nvSpPr>
          <p:cNvPr id="3" name="Text 1"/>
          <p:cNvSpPr/>
          <p:nvPr/>
        </p:nvSpPr>
        <p:spPr>
          <a:xfrm>
            <a:off x="1188720" y="1097280"/>
            <a:ext cx="804672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i="1" dirty="0">
                <a:solidFill>
                  <a:srgbClr val="334155"/>
                </a:solidFill>
              </a:rPr>
              <a:t>The cloud is not a place, it's a way of computing.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669280" y="438912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1E3A8A"/>
                </a:solidFill>
              </a:rPr>
              <a:t>— Unknown</a:t>
            </a:r>
            <a:endParaRPr lang="en-US" sz="1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41148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3A8A"/>
                </a:solidFill>
              </a:rPr>
              <a:t>The Future is Cloudy: Trends and Innovations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731520" y="1307592"/>
            <a:ext cx="109728" cy="109728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60120" y="1234440"/>
            <a:ext cx="9601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334155"/>
                </a:solidFill>
              </a:rPr>
              <a:t>Hybrid and Multi-Cloud adoption continues to rise.</a:t>
            </a:r>
            <a:endParaRPr lang="en-US" sz="1900" dirty="0"/>
          </a:p>
        </p:txBody>
      </p:sp>
      <p:sp>
        <p:nvSpPr>
          <p:cNvPr id="6" name="Shape 4"/>
          <p:cNvSpPr/>
          <p:nvPr/>
        </p:nvSpPr>
        <p:spPr>
          <a:xfrm>
            <a:off x="731520" y="1965960"/>
            <a:ext cx="109728" cy="109728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60120" y="1892808"/>
            <a:ext cx="9601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334155"/>
                </a:solidFill>
              </a:rPr>
              <a:t>Edge Computing brings processing closer to data sources.</a:t>
            </a:r>
            <a:endParaRPr lang="en-US" sz="1900" dirty="0"/>
          </a:p>
        </p:txBody>
      </p:sp>
      <p:sp>
        <p:nvSpPr>
          <p:cNvPr id="8" name="Shape 6"/>
          <p:cNvSpPr/>
          <p:nvPr/>
        </p:nvSpPr>
        <p:spPr>
          <a:xfrm>
            <a:off x="731520" y="2624328"/>
            <a:ext cx="109728" cy="109728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60120" y="2551176"/>
            <a:ext cx="9601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334155"/>
                </a:solidFill>
              </a:rPr>
              <a:t>Serverless computing for enhanced efficiency and cost savings.</a:t>
            </a:r>
            <a:endParaRPr lang="en-US" sz="1900" dirty="0"/>
          </a:p>
        </p:txBody>
      </p:sp>
      <p:sp>
        <p:nvSpPr>
          <p:cNvPr id="10" name="Shape 8"/>
          <p:cNvSpPr/>
          <p:nvPr/>
        </p:nvSpPr>
        <p:spPr>
          <a:xfrm>
            <a:off x="731520" y="3282696"/>
            <a:ext cx="109728" cy="109728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60120" y="3209544"/>
            <a:ext cx="9601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334155"/>
                </a:solidFill>
              </a:rPr>
              <a:t>AI and Machine Learning are deeply integrated into cloud services.</a:t>
            </a:r>
            <a:endParaRPr lang="en-US" sz="1900" dirty="0"/>
          </a:p>
        </p:txBody>
      </p:sp>
      <p:sp>
        <p:nvSpPr>
          <p:cNvPr id="12" name="Text 10"/>
          <p:cNvSpPr/>
          <p:nvPr/>
        </p:nvSpPr>
        <p:spPr>
          <a:xfrm>
            <a:off x="457200" y="6400800"/>
            <a:ext cx="1828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ALL AI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11247120" y="6400800"/>
            <a:ext cx="3657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4572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3A8A"/>
                </a:solidFill>
              </a:rPr>
              <a:t>Conclusion: A Foundation for Innovation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31520" y="1353312"/>
            <a:ext cx="109728" cy="109728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60120" y="1280160"/>
            <a:ext cx="8686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34155"/>
                </a:solidFill>
              </a:rPr>
              <a:t>Cloud computing has revolutionized how we store, process, and access information.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731520" y="2039112"/>
            <a:ext cx="109728" cy="109728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60120" y="1965960"/>
            <a:ext cx="8686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34155"/>
                </a:solidFill>
              </a:rPr>
              <a:t>It offers unprecedented scalability, flexibility, and cost-efficiency.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731520" y="2724912"/>
            <a:ext cx="109728" cy="109728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60120" y="2651760"/>
            <a:ext cx="8686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34155"/>
                </a:solidFill>
              </a:rPr>
              <a:t>The ongoing evolution of cloud technologies will continue to drive digital transformation across all industries.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640080" y="5623560"/>
            <a:ext cx="1024128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0080" y="585216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563EB"/>
                </a:solidFill>
              </a:rPr>
              <a:t>Thank You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457200" y="6400800"/>
            <a:ext cx="1828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ALL AI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11247120" y="6400800"/>
            <a:ext cx="3657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ALL 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The Evolution of Cloud Computing</dc:title>
  <dc:subject>The Evolution of Cloud Computing</dc:subject>
  <dc:creator>ALL AI</dc:creator>
  <cp:lastModifiedBy>ALL AI</cp:lastModifiedBy>
  <cp:revision>1</cp:revision>
  <dcterms:created xsi:type="dcterms:W3CDTF">2026-07-15T09:10:39Z</dcterms:created>
  <dcterms:modified xsi:type="dcterms:W3CDTF">2026-07-15T09:10:39Z</dcterms:modified>
</cp:coreProperties>
</file>