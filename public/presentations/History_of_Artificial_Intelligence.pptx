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132588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640080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ALL AI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1247120" y="640080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4114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3A8A"/>
                </a:solidFill>
              </a:rPr>
              <a:t>The Genesis of an Idea (Early Concepts)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31520" y="1261872"/>
            <a:ext cx="128016" cy="128016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97280" y="1170432"/>
            <a:ext cx="1097280" cy="32004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97280" y="1207008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3A8A"/>
                </a:solidFill>
              </a:rPr>
              <a:t>1943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2468880" y="1170432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334155"/>
                </a:solidFill>
              </a:rPr>
              <a:t>Warren McCulloch and Walter Pitts publish 'A Logical Calculus of Ideas Immanent in Nervous Activity', proposing the first mathematical model of an artificial neuron.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731520" y="2084832"/>
            <a:ext cx="128016" cy="128016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97280" y="1993392"/>
            <a:ext cx="1097280" cy="32004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97280" y="2029968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3A8A"/>
                </a:solidFill>
              </a:rPr>
              <a:t>1950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2468880" y="1993392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334155"/>
                </a:solidFill>
              </a:rPr>
              <a:t>Alan Turing publishes 'Computing Machinery and Intelligence', introducing the Turing Test and proposing the question 'Can machines think?'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731520" y="2907792"/>
            <a:ext cx="128016" cy="128016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97280" y="2816352"/>
            <a:ext cx="1097280" cy="32004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97280" y="2852928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3A8A"/>
                </a:solidFill>
              </a:rPr>
              <a:t>1955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2468880" y="2816352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334155"/>
                </a:solidFill>
              </a:rPr>
              <a:t>Allen Newell, Herbert Simon, and J.C. Shaw develop the Logic Theorist, considered the first AI program.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731520" y="3730752"/>
            <a:ext cx="128016" cy="128016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97280" y="3639312"/>
            <a:ext cx="1097280" cy="32004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97280" y="3675888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3A8A"/>
                </a:solidFill>
              </a:rPr>
              <a:t>1956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2468880" y="3639312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334155"/>
                </a:solidFill>
              </a:rPr>
              <a:t>The Dartmouth Workshop coins the term 'Artificial Intelligence', marking the formal birth of the field.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457200" y="640080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ALL AI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1247120" y="6400800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4114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3A8A"/>
                </a:solidFill>
              </a:rPr>
              <a:t>Early AI Approaches: Symbolic vs. Connectionist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097280"/>
            <a:ext cx="4937760" cy="475488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0" y="1097280"/>
            <a:ext cx="4937760" cy="475488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325880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3A8A"/>
                </a:solidFill>
              </a:rPr>
              <a:t>Symbolic AI (GOFAI)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217920" y="1325880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92400E"/>
                </a:solidFill>
              </a:rPr>
              <a:t>Connectionist AI (Neural Networks)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914400" y="1901952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43000" y="182880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4155"/>
                </a:solidFill>
              </a:rPr>
              <a:t>Emphasizes logical reasoning and rules.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914400" y="2496312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43000" y="242316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4155"/>
                </a:solidFill>
              </a:rPr>
              <a:t>Relies on explicit knowledge representation.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914400" y="3090672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43000" y="301752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4155"/>
                </a:solidFill>
              </a:rPr>
              <a:t>Good for well-defined problems and expert systems.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217920" y="1901952"/>
            <a:ext cx="109728" cy="109728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46520" y="182880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4155"/>
                </a:solidFill>
              </a:rPr>
              <a:t>Inspired by biological neural networks.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217920" y="2496312"/>
            <a:ext cx="109728" cy="109728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46520" y="242316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4155"/>
                </a:solidFill>
              </a:rPr>
              <a:t>Learns from data through pattern recognition.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217920" y="3090672"/>
            <a:ext cx="109728" cy="109728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46520" y="301752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4155"/>
                </a:solidFill>
              </a:rPr>
              <a:t>Effective for complex, fuzzy problems like image recognition.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457200" y="640080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ALL AI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1247120" y="6400800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3A8A"/>
                </a:solidFill>
              </a:rPr>
              <a:t>The AI Winters and Resurgences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731520" y="1097280"/>
            <a:ext cx="4023360" cy="45720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4155"/>
                </a:solidFill>
              </a:rPr>
              <a:t>• Periods of reduced funding and interest due to unmet expectations.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334155"/>
                </a:solidFill>
              </a:rPr>
              <a:t>• Early enthusiasm often outpaced computational power and algorithms.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334155"/>
                </a:solidFill>
              </a:rPr>
              <a:t>• Key breakthroughs and advancements re-ignited the field.</a:t>
            </a:r>
            <a:endParaRPr lang="en-US" sz="1800" dirty="0"/>
          </a:p>
        </p:txBody>
      </p:sp>
      <p:pic>
        <p:nvPicPr>
          <p:cNvPr id="4" name="Image 0" descr="C:\Users\sumai\Desktop\ALL AI in one\ALL AI new\public\presentation-cache\ai_winter_concept_illustration_digital_painting_high_qualit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12080" y="1097280"/>
            <a:ext cx="3108960" cy="43891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212080" y="557784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Conceptual illustration of an AI Winter.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4114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3A8A"/>
                </a:solidFill>
              </a:rPr>
              <a:t>Milestones in Machine Learning and Deep Learning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31520" y="1261872"/>
            <a:ext cx="128016" cy="128016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97280" y="1170432"/>
            <a:ext cx="1097280" cy="32004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97280" y="1207008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3A8A"/>
                </a:solidFill>
              </a:rPr>
              <a:t>1980s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2468880" y="1170432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334155"/>
                </a:solidFill>
              </a:rPr>
              <a:t>Resurgence of neural networks with backpropagation algorithm.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731520" y="2084832"/>
            <a:ext cx="128016" cy="128016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97280" y="1993392"/>
            <a:ext cx="1097280" cy="32004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97280" y="2029968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3A8A"/>
                </a:solidFill>
              </a:rPr>
              <a:t>1997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2468880" y="1993392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334155"/>
                </a:solidFill>
              </a:rPr>
              <a:t>IBM's Deep Blue defeats chess Grandmaster Garry Kasparov.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731520" y="2907792"/>
            <a:ext cx="128016" cy="128016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97280" y="2816352"/>
            <a:ext cx="1097280" cy="32004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97280" y="2852928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3A8A"/>
                </a:solidFill>
              </a:rPr>
              <a:t>2011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2468880" y="2816352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334155"/>
                </a:solidFill>
              </a:rPr>
              <a:t>IBM's Watson wins Jeopardy!, showcasing natural language processing.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731520" y="3730752"/>
            <a:ext cx="128016" cy="128016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97280" y="3639312"/>
            <a:ext cx="1097280" cy="32004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97280" y="3675888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3A8A"/>
                </a:solidFill>
              </a:rPr>
              <a:t>2012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2468880" y="3639312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334155"/>
                </a:solidFill>
              </a:rPr>
              <a:t>AlexNet wins ImageNet competition, marking a breakthrough in deep learning for computer vision.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457200" y="640080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ALL AI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1247120" y="6400800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0000"/>
                </a:solidFill>
              </a:rPr>
              <a:t>The Exponential Growth of AI Capabilities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40080" y="1828800"/>
            <a:ext cx="2194560" cy="2194560"/>
          </a:xfrm>
          <a:prstGeom prst="roundRect">
            <a:avLst/>
          </a:prstGeom>
          <a:solidFill>
            <a:srgbClr val="DBEAFE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219456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00000"/>
                </a:solidFill>
              </a:rPr>
              <a:t>2.3x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301752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00000"/>
                </a:solidFill>
              </a:rPr>
              <a:t>Increase in AI publications (2010-2020)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3200400" y="1828800"/>
            <a:ext cx="2194560" cy="2194560"/>
          </a:xfrm>
          <a:prstGeom prst="roundRect">
            <a:avLst/>
          </a:prstGeom>
          <a:solidFill>
            <a:srgbClr val="DBEAFE"/>
          </a:solidFill>
          <a:ln/>
        </p:spPr>
      </p:sp>
      <p:sp>
        <p:nvSpPr>
          <p:cNvPr id="7" name="Text 5"/>
          <p:cNvSpPr/>
          <p:nvPr/>
        </p:nvSpPr>
        <p:spPr>
          <a:xfrm>
            <a:off x="3200400" y="219456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00000"/>
                </a:solidFill>
              </a:rPr>
              <a:t>500M+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3200400" y="301752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00000"/>
                </a:solidFill>
              </a:rPr>
              <a:t>AI patents filed globally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760720" y="1828800"/>
            <a:ext cx="2194560" cy="2194560"/>
          </a:xfrm>
          <a:prstGeom prst="roundRect">
            <a:avLst/>
          </a:prstGeom>
          <a:solidFill>
            <a:srgbClr val="DBEAFE"/>
          </a:solidFill>
          <a:ln/>
        </p:spPr>
      </p:sp>
      <p:sp>
        <p:nvSpPr>
          <p:cNvPr id="10" name="Text 8"/>
          <p:cNvSpPr/>
          <p:nvPr/>
        </p:nvSpPr>
        <p:spPr>
          <a:xfrm>
            <a:off x="5760720" y="219456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00000"/>
                </a:solidFill>
              </a:rPr>
              <a:t>$150B+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5760720" y="301752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00000"/>
                </a:solidFill>
              </a:rPr>
              <a:t>Global AI market size projected (2023)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3A8A"/>
                </a:solidFill>
              </a:rPr>
              <a:t>The Age of AI: Modern Applications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731520" y="1097280"/>
            <a:ext cx="4023360" cy="45720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4155"/>
                </a:solidFill>
              </a:rPr>
              <a:t>• Natural Language Processing (LLMs)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334155"/>
                </a:solidFill>
              </a:rPr>
              <a:t>• Computer Vision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334155"/>
                </a:solidFill>
              </a:rPr>
              <a:t>• Robotics and Autonomous Systems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334155"/>
                </a:solidFill>
              </a:rPr>
              <a:t>• Personalized Recommendations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334155"/>
                </a:solidFill>
              </a:rPr>
              <a:t>• Healthcare Diagnostics</a:t>
            </a:r>
            <a:endParaRPr lang="en-US" sz="1800" dirty="0"/>
          </a:p>
        </p:txBody>
      </p:sp>
      <p:pic>
        <p:nvPicPr>
          <p:cNvPr id="4" name="Image 0" descr="C:\Users\sumai\Desktop\ALL AI in one\ALL AI new\public\presentation-cache\futuristic_ai_applications_montage_3d_render_high_qualit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12080" y="1097280"/>
            <a:ext cx="3108960" cy="43891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212080" y="557784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Diverse modern AI applications.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4572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3A8A"/>
                </a:solidFill>
              </a:rPr>
              <a:t>The Future of AI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353312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0120" y="1280160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4155"/>
                </a:solidFill>
              </a:rPr>
              <a:t>Continued advancements in deep learning and unsupervised learning.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731520" y="2039112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1965960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4155"/>
                </a:solidFill>
              </a:rPr>
              <a:t>Focus on AI ethics, safety, and explainability.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731520" y="2724912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" y="2651760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4155"/>
                </a:solidFill>
              </a:rPr>
              <a:t>AI poised to revolutionize every industry and aspect of life.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640080" y="5623560"/>
            <a:ext cx="1024128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58521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563EB"/>
                </a:solidFill>
              </a:rPr>
              <a:t>Thank You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457200" y="640080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ALL AI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1247120" y="6400800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ALL 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History of Artificial Intelligence</dc:title>
  <dc:subject>The History of Artificial Intelligence</dc:subject>
  <dc:creator>ALL AI</dc:creator>
  <cp:lastModifiedBy>ALL AI</cp:lastModifiedBy>
  <cp:revision>1</cp:revision>
  <dcterms:created xsi:type="dcterms:W3CDTF">2026-07-15T09:03:37Z</dcterms:created>
  <dcterms:modified xsi:type="dcterms:W3CDTF">2026-07-15T09:03:37Z</dcterms:modified>
</cp:coreProperties>
</file>